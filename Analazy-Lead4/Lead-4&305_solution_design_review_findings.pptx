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Lead-4 &amp; Lead-305 解决方案评审</a:t>
            </a:r>
          </a:p>
          <a:p>
            <a:pPr>
              <a:spcBef>
                <a:spcPts val="1500"/>
              </a:spcBef>
              <a:spcAft>
                <a:spcPts val="4000"/>
              </a:spcAft>
              <a:defRPr sz="2000">
                <a:solidFill>
                  <a:srgbClr val="E6F2FF"/>
                </a:solidFill>
                <a:latin typeface="Microsoft YaHei"/>
              </a:defRPr>
            </a:pPr>
            <a:r>
              <a:t>关键冲突、业务疑点与技术实现偏差深度剖析</a:t>
            </a:r>
          </a:p>
          <a:p>
            <a:pPr>
              <a:spcBef>
                <a:spcPts val="3000"/>
              </a:spcBef>
              <a:defRPr sz="1300">
                <a:solidFill>
                  <a:srgbClr val="AABEDC"/>
                </a:solidFill>
                <a:latin typeface="Microsoft YaHei"/>
              </a:defRPr>
            </a:pPr>
            <a:r>
              <a:t>评审对象：Lead-4 &amp; Lead-305 解决方案设计文档</a:t>
            </a:r>
            <a:br/>
            <a:r>
              <a:t>制作目的：排查开发冲突、明确业务口径与技术边界</a:t>
            </a:r>
            <a:br/>
            <a:r>
              <a:t>当前状态：保留原设计文档，本PPT用于沟通与决议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980B9"/>
                </a:solidFill>
                <a:latin typeface="Microsoft YaHei"/>
              </a:rPr>
              <a:t>01 </a:t>
            </a:r>
            <a:r>
              <a:rPr sz="2200" b="1">
                <a:solidFill>
                  <a:srgbClr val="0F2043"/>
                </a:solidFill>
                <a:latin typeface="Microsoft YaHei"/>
              </a:rPr>
              <a:t>总体结论与三大核心风险方向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12529"/>
                </a:solidFill>
                <a:latin typeface="Microsoft YaHei"/>
              </a:defRPr>
            </a:pPr>
            <a:r>
              <a:t>主流程和流程图基本覆盖了核心校验路径，但若直接进入开发，仍存在若干会导致实现分歧的严重不一致问题。高风险主要集中在以下三个方向：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447288" cy="411480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DC3545"/>
                </a:solidFill>
                <a:latin typeface="Microsoft YaHei"/>
              </a:defRPr>
            </a:pPr>
            <a:r>
              <a:t>一、技术实现自相矛盾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• 规则配置中心到底怎么实现？第3章写了MySQL/Caffeine/Redis广播热重载，第4章却说不写动态库且DDL=0。</a:t>
            </a:r>
            <a:br/>
            <a:r>
              <a:t>• 异常表要增加 exception_category 和 is_hard_stop，但数据库章节声明无DDL。</a:t>
            </a:r>
            <a:br/>
            <a:br/>
            <a:r>
              <a:t>风险：开发无从判定究竟是写代码常量还是做数据库引擎。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61688" y="1828800"/>
            <a:ext cx="3447288" cy="4114800"/>
          </a:xfrm>
          <a:prstGeom prst="roundRect">
            <a:avLst/>
          </a:prstGeom>
          <a:solidFill>
            <a:srgbClr val="FFF3E6"/>
          </a:solidFill>
          <a:ln w="1905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FD7E14"/>
                </a:solidFill>
                <a:latin typeface="Microsoft YaHei"/>
              </a:defRPr>
            </a:pPr>
            <a:r>
              <a:t>二、业务判定与路由悬案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• want2Talk2PSI = false 时，是做校验还是不做？路由究竟往哪里走？</a:t>
            </a:r>
            <a:br/>
            <a:r>
              <a:t>• Invalid PSI Channel 与 Inactive PSI 在规则表里记为 Non-Hard-Stop，却又在文字里说要“拦截分配”。</a:t>
            </a:r>
            <a:br/>
            <a:br/>
            <a:r>
              <a:t>风险：验收时会产生严重业务逻辑争议，线索分发漏单或流错。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66176" y="1828800"/>
            <a:ext cx="3447288" cy="4114800"/>
          </a:xfrm>
          <a:prstGeom prst="roundRect">
            <a:avLst/>
          </a:prstGeom>
          <a:solidFill>
            <a:srgbClr val="EAF8EF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28A745"/>
                </a:solidFill>
                <a:latin typeface="Microsoft YaHei"/>
              </a:defRPr>
            </a:pPr>
            <a:r>
              <a:t>三、整改建议与后续行动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• 业务会审：明确 Hard Stop、已故拦截Fallback、免沟通时的路由语义。</a:t>
            </a:r>
            <a:br/>
            <a:r>
              <a:t>• 技术会审：确定配置表物理边界、表结构变更方案、事务及回退设计。</a:t>
            </a:r>
            <a:br/>
            <a:r>
              <a:t>• 文档落笔：在设计文档中补充唯一的 Rule Matrix（规则矩阵）和异常分流决策表。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980B9"/>
                </a:solidFill>
                <a:latin typeface="Microsoft YaHei"/>
              </a:rPr>
              <a:t>P0-1 </a:t>
            </a:r>
            <a:r>
              <a:rPr sz="2200" b="1">
                <a:solidFill>
                  <a:srgbClr val="0F2043"/>
                </a:solidFill>
                <a:latin typeface="Microsoft YaHei"/>
              </a:rPr>
              <a:t>规则注册中心：动态数据库编排 vs 静态代码常量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C757D"/>
                </a:solidFill>
                <a:latin typeface="Microsoft YaHei"/>
              </a:defRPr>
            </a:pPr>
            <a:r>
              <a:t>文档关于规则引擎的加载与管理方式前后自相矛盾，必须在开发前明确到底选用哪套技术方案。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4389120" cy="4389120"/>
          </a:xfrm>
          <a:prstGeom prst="roundRect">
            <a:avLst/>
          </a:prstGeom>
          <a:solidFill>
            <a:srgbClr val="E6F2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0F2043"/>
                </a:solidFill>
                <a:latin typeface="Microsoft YaHei"/>
              </a:defRPr>
            </a:pPr>
            <a:r>
              <a:t>方案 A：动态数据库规则引擎 (复杂)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1. 新增 MySQL 表 validation_rule_registry 存储规则元数据、执行顺序、前置依赖和硬拦截状态。</a:t>
            </a:r>
            <a:br/>
            <a:r>
              <a:t>2. 启动时通过 CommandLineRunner 加载至 Caffeine 缓存。</a:t>
            </a:r>
            <a:br/>
            <a:r>
              <a:t>3. 提供 REST 端点 /api/validation/rules/reload 触发缓存更新。</a:t>
            </a:r>
            <a:br/>
            <a:r>
              <a:t>4. 基于 Redis Pub/Sub 广播更新事件，促使多实例热重载。</a:t>
            </a:r>
            <a:br/>
            <a:br/>
            <a:r>
              <a:t>特点：系统非常灵活，支持零停机热修改；但开发周期长，依赖 Redis 基础设施和迁移脚本。</a:t>
            </a:r>
          </a:p>
        </p:txBody>
      </p:sp>
      <p:sp>
        <p:nvSpPr>
          <p:cNvPr id="5" name="Oval 4"/>
          <p:cNvSpPr/>
          <p:nvPr/>
        </p:nvSpPr>
        <p:spPr>
          <a:xfrm>
            <a:off x="5303520" y="3200400"/>
            <a:ext cx="1463040" cy="1463040"/>
          </a:xfrm>
          <a:prstGeom prst="ellipse">
            <a:avLst/>
          </a:prstGeom>
          <a:solidFill>
            <a:srgbClr val="FDEDED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3545"/>
                </a:solidFill>
                <a:latin typeface="Microsoft YaHei"/>
              </a:defRPr>
            </a:pPr>
            <a:r>
              <a:t>口径冲突</a:t>
            </a:r>
            <a:br/>
            <a:r>
              <a:t>开发悬空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645920"/>
            <a:ext cx="4389120" cy="43891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212529"/>
                </a:solidFill>
                <a:latin typeface="Microsoft YaHei"/>
              </a:defRPr>
            </a:pPr>
            <a:r>
              <a:t>方案 B：静态代码规则表 (简单)</a:t>
            </a:r>
          </a:p>
          <a:p>
            <a:pPr>
              <a:spcBef>
                <a:spcPts val="800"/>
              </a:spcBef>
              <a:defRPr sz="1100">
                <a:solidFill>
                  <a:srgbClr val="6C757D"/>
                </a:solidFill>
                <a:latin typeface="Microsoft YaHei"/>
              </a:defRPr>
            </a:pPr>
            <a:r>
              <a:t>1. 不增设物理表 validation_rule_registry，直接在 Java 内存代码（例如 Enum 或 Configuration 类）中维护规则链。</a:t>
            </a:r>
            <a:br/>
            <a:r>
              <a:t>2. 规则执行顺序、前置依赖、熔断标识直接硬编码或通过 Spring Beans 注解声明。</a:t>
            </a:r>
            <a:br/>
            <a:r>
              <a:t>3. 声明 DDL = 0，不改动数据库。</a:t>
            </a:r>
            <a:br/>
            <a:r>
              <a:t>4. 没有热重载接口，不依赖 Redis 广播事件。</a:t>
            </a:r>
            <a:br/>
            <a:br/>
            <a:r>
              <a:t>特点：开发速度极快，系统极度简单；但未来修改规则顺序必须重新发布版本。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980B9"/>
                </a:solidFill>
                <a:latin typeface="Microsoft YaHei"/>
              </a:rPr>
              <a:t>P0-2 </a:t>
            </a:r>
            <a:r>
              <a:rPr sz="2200" b="1">
                <a:solidFill>
                  <a:srgbClr val="0F2043"/>
                </a:solidFill>
                <a:latin typeface="Microsoft YaHei"/>
              </a:rPr>
              <a:t>表结构冲突：既要求添加字段，又要求 DDL = 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657600" cy="4389120"/>
          </a:xfrm>
          <a:prstGeom prst="roundRect">
            <a:avLst/>
          </a:prstGeom>
          <a:solidFill>
            <a:srgbClr val="E6F2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0F2043"/>
                </a:solidFill>
                <a:latin typeface="Microsoft YaHei"/>
              </a:defRPr>
            </a:pPr>
            <a:r>
              <a:t>源端联机库 (MySQL)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• 校验结果在内存中计算，不改动 iic_crm_leads 主表以规避核心交易锁表风险。</a:t>
            </a:r>
            <a:br/>
            <a:br/>
            <a:r>
              <a:t>• 但明确要求在 iic_crm_leads_exception_report 中物理新增字段：</a:t>
            </a:r>
            <a:br/>
            <a:r>
              <a:t>  1. exception_category (异常大类)</a:t>
            </a:r>
            <a:br/>
            <a:r>
              <a:t>  2. is_hard_stop (硬熔断标识)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926080"/>
            <a:ext cx="3017520" cy="1645920"/>
          </a:xfrm>
          <a:prstGeom prst="rect">
            <a:avLst/>
          </a:prstGeom>
          <a:solidFill>
            <a:srgbClr val="FDEDED"/>
          </a:solidFill>
          <a:ln w="1905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3545"/>
                </a:solidFill>
                <a:latin typeface="Microsoft YaHei"/>
              </a:defRPr>
            </a:pPr>
            <a:r>
              <a:t>【矛盾冲突】</a:t>
            </a:r>
            <a:br/>
            <a:r>
              <a:t>文档里写着 DDL = 0 且不改表；但没有物理新增这2个字段，程序中的分类异常将无法存盘！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657600" cy="4389120"/>
          </a:xfrm>
          <a:prstGeom prst="roundRect">
            <a:avLst/>
          </a:prstGeom>
          <a:solidFill>
            <a:srgbClr val="E6F2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0F2043"/>
                </a:solidFill>
                <a:latin typeface="Microsoft YaHei"/>
              </a:defRPr>
            </a:pPr>
            <a:r>
              <a:t>分析数仓 (Snowflake) &amp; BI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• PFMi 报表团队通过中间传输管道 (AWS DMS + S3 + Snowpipe) 实时拉取数据。</a:t>
            </a:r>
            <a:br/>
            <a:br/>
            <a:r>
              <a:t>• 通过透视只读视图 V_LEAD_VALIDATION_EXCEPTION_REPORT 统计拦截率。</a:t>
            </a:r>
            <a:br/>
            <a:br/>
            <a:r>
              <a:t>【断裂风险】：如果没有物理字段，BI 视图关联将失效，无法区分异常类型。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14800" y="3566160"/>
            <a:ext cx="457200" cy="182880"/>
          </a:xfrm>
          <a:prstGeom prst="rightArrow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7589520" y="3566160"/>
            <a:ext cx="457200" cy="182880"/>
          </a:xfrm>
          <a:prstGeom prst="rightArrow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980B9"/>
                </a:solidFill>
                <a:latin typeface="Microsoft YaHei"/>
              </a:rPr>
              <a:t>P0-3 </a:t>
            </a:r>
            <a:r>
              <a:rPr sz="2200" b="1">
                <a:solidFill>
                  <a:srgbClr val="0F2043"/>
                </a:solidFill>
                <a:latin typeface="Microsoft YaHei"/>
              </a:rPr>
              <a:t>异常处理分歧：Hard Stop 校验与拦截口径不一致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C757D"/>
                </a:solidFill>
                <a:latin typeface="Microsoft YaHei"/>
              </a:defRPr>
            </a:pPr>
            <a:r>
              <a:t>在同一个文档或不同 Jira Story 中，对相同异常的处理规则自相矛盾，直接导致开发分歧。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926080" cy="2926080"/>
          </a:xfrm>
          <a:prstGeom prst="roundRect">
            <a:avLst/>
          </a:prstGeom>
          <a:solidFill>
            <a:srgbClr val="E6F2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0F2043"/>
                </a:solidFill>
                <a:latin typeface="Microsoft YaHei"/>
              </a:defRPr>
            </a:pPr>
            <a:r>
              <a:t>检验节点 (LEAD-55)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校验销售顾问代码的合法性和状态：</a:t>
            </a:r>
            <a:br/>
            <a:br/>
            <a:r>
              <a:t>• 异常1：Invalid PSI Channel</a:t>
            </a:r>
            <a:br/>
            <a:r>
              <a:t>（顾问非PF SA渠道）</a:t>
            </a:r>
            <a:br/>
            <a:r>
              <a:t>• 异常2：Inactive PSI</a:t>
            </a:r>
            <a:br/>
            <a:r>
              <a:t>（顾问已被停用）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383280" y="3383280"/>
            <a:ext cx="914400" cy="182880"/>
          </a:xfrm>
          <a:prstGeom prst="rightArrow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3154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212529"/>
                </a:solidFill>
                <a:latin typeface="Microsoft YaHei"/>
              </a:defRPr>
            </a:pPr>
            <a:r>
              <a:t>进行判定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200400" cy="164592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DC3545"/>
                </a:solidFill>
                <a:latin typeface="Microsoft YaHei"/>
              </a:defRPr>
            </a:pPr>
            <a:r>
              <a:t>口径 A (规则配置矩阵)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• is_hard_stop = 0</a:t>
            </a:r>
            <a:br/>
            <a:r>
              <a:t>• 仅审计/报警，允许流转。</a:t>
            </a:r>
            <a:br/>
            <a:br/>
            <a:r>
              <a:t>【后果】线索会被分配路由给失效顾问，引发业务故障。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657600"/>
            <a:ext cx="3200400" cy="1645920"/>
          </a:xfrm>
          <a:prstGeom prst="roundRect">
            <a:avLst/>
          </a:prstGeom>
          <a:solidFill>
            <a:srgbClr val="EAF8EF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28A745"/>
                </a:solidFill>
                <a:latin typeface="Microsoft YaHei"/>
              </a:defRPr>
            </a:pPr>
            <a:r>
              <a:t>口径 B (文字描述段落)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• 拦截常规分配，禁止路由。</a:t>
            </a:r>
            <a:br/>
            <a:r>
              <a:t>• 异常需入库阻断分配。</a:t>
            </a:r>
            <a:br/>
            <a:br/>
            <a:r>
              <a:t>【后果】需拦截线索（即 Hard Stop），且状态改为 Validation Failed。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011680"/>
            <a:ext cx="3657600" cy="2926080"/>
          </a:xfrm>
          <a:prstGeom prst="roundRect">
            <a:avLst/>
          </a:prstGeom>
          <a:solidFill>
            <a:srgbClr val="E6F2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0F2043"/>
                </a:solidFill>
                <a:latin typeface="Microsoft YaHei"/>
              </a:defRPr>
            </a:pPr>
            <a:r>
              <a:t>【解决路径】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1. 业务与 TL 共同确认这两个异常是否阻断正常路由分拨。</a:t>
            </a:r>
            <a:br/>
            <a:r>
              <a:t>2. 若阻断（口径B），则开发时必须配置为 is_hard_stop = 1，将线索拦截并转入 Validation Failed 状态。</a:t>
            </a:r>
            <a:br/>
            <a:r>
              <a:t>3. 若不阻断（口径A），则线索正常流入分配且主状态仍为 Passed，仅记后台警告。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980B9"/>
                </a:solidFill>
                <a:latin typeface="Microsoft YaHei"/>
              </a:rPr>
              <a:t>P0-4 </a:t>
            </a:r>
            <a:r>
              <a:rPr sz="2200" b="1">
                <a:solidFill>
                  <a:srgbClr val="0F2043"/>
                </a:solidFill>
                <a:latin typeface="Microsoft YaHei"/>
              </a:rPr>
              <a:t>业务确认：新客户外部 EDR 校验失败后的流转行为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2560320" cy="256032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0F2043"/>
                </a:solidFill>
                <a:latin typeface="Microsoft YaHei"/>
              </a:defRPr>
            </a:pPr>
            <a:r>
              <a:t>步骤 1：线索进线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• 系统判定为新客户</a:t>
            </a:r>
            <a:br/>
            <a:r>
              <a:t>• 线索中自带了 PSI 顾问代码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2286000"/>
            <a:ext cx="2560320" cy="256032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0F2043"/>
                </a:solidFill>
                <a:latin typeface="Microsoft YaHei"/>
              </a:defRPr>
            </a:pPr>
            <a:r>
              <a:t>步骤 2：EDR 校验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• 调外部 EDR / OMIPAY 验证该 PSI 真实性与活跃状态。</a:t>
            </a:r>
            <a:br/>
            <a:br/>
            <a:r>
              <a:t>• 判定结果：【校验失败】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657600" cy="182880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DC3545"/>
                </a:solidFill>
                <a:latin typeface="Microsoft YaHei"/>
              </a:defRPr>
            </a:pPr>
            <a:r>
              <a:t>方案 A (强拦截/Hard Stop - docx倾向)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• 终止后续一切流程</a:t>
            </a:r>
            <a:br/>
            <a:r>
              <a:t>• 线索设为 Validation Failed</a:t>
            </a:r>
            <a:br/>
            <a:r>
              <a:t>• 拒绝分配，直接报废</a:t>
            </a:r>
            <a:br/>
            <a:r>
              <a:t>缺点：可能会流失潜在的新客户流量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3840480"/>
            <a:ext cx="3657600" cy="1828800"/>
          </a:xfrm>
          <a:prstGeom prst="roundRect">
            <a:avLst/>
          </a:prstGeom>
          <a:solidFill>
            <a:srgbClr val="EAF8EF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28A745"/>
                </a:solidFill>
                <a:latin typeface="Microsoft YaHei"/>
              </a:defRPr>
            </a:pPr>
            <a:r>
              <a:t>方案 B (软退避/常规分配 - LEAD-230倾向)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• EDR 校验记为 FAIL，存原因到 exception</a:t>
            </a:r>
            <a:br/>
            <a:r>
              <a:t>• 清空线索 PSI，降级为“无PSI线索”</a:t>
            </a:r>
            <a:br/>
            <a:r>
              <a:t>• 通行！线索进入公共池重新路由分派</a:t>
            </a:r>
            <a:br/>
            <a:r>
              <a:t>优点：留存新客，转回普通公海路由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17520" y="3474720"/>
            <a:ext cx="822960" cy="182880"/>
          </a:xfrm>
          <a:prstGeom prst="rightArrow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6400800" y="3474720"/>
            <a:ext cx="1645920" cy="182880"/>
          </a:xfrm>
          <a:prstGeom prst="rightArrow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2461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212529"/>
                </a:solidFill>
                <a:latin typeface="Microsoft YaHei"/>
              </a:defRPr>
            </a:pPr>
            <a:r>
              <a:t>方案A分支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400800" y="3474720"/>
            <a:ext cx="1645920" cy="182880"/>
          </a:xfrm>
          <a:prstGeom prst="rightArrow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2461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212529"/>
                </a:solidFill>
                <a:latin typeface="Microsoft YaHei"/>
              </a:defRPr>
            </a:pPr>
            <a:r>
              <a:t>方案B分支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980B9"/>
                </a:solidFill>
                <a:latin typeface="Microsoft YaHei"/>
              </a:rPr>
              <a:t>P0-5 </a:t>
            </a:r>
            <a:r>
              <a:rPr sz="2200" b="1">
                <a:solidFill>
                  <a:srgbClr val="0F2043"/>
                </a:solidFill>
                <a:latin typeface="Microsoft YaHei"/>
              </a:rPr>
              <a:t>技术优化：未最终定稿的责任链执行顺序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1277295" cy="210312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DC3545"/>
                </a:solidFill>
                <a:latin typeface="Microsoft YaHei"/>
              </a:defRPr>
            </a:pPr>
            <a:r>
              <a:t>方案 A（未优化顺序）：高成本的外部慢校验排在前面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流程： 进线 ➔ [EDR外部PSI活跃度核验 (外部API, 耗时 500ms)] ➔ [本地姓名完整校验 (内存, 1ms)] ➔ [跨活动去重 (MySQL, 10ms)]</a:t>
            </a:r>
            <a:br/>
            <a:br/>
            <a:r>
              <a:t>【性能瓶颈】一旦姓名校验为空或去重失败触发了 Hard Stop 强熔断，前面的外部 EDR 接口调用开销已被白白浪费，大并发下极易引发外部 API 超时及带宽被占满崩溃。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4114800"/>
            <a:ext cx="11277295" cy="2103120"/>
          </a:xfrm>
          <a:prstGeom prst="roundRect">
            <a:avLst/>
          </a:prstGeom>
          <a:solidFill>
            <a:srgbClr val="EAF8EF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28A745"/>
                </a:solidFill>
                <a:latin typeface="Microsoft YaHei"/>
              </a:defRPr>
            </a:pPr>
            <a:r>
              <a:t>方案 B（推荐优化顺序）：低成本、高拦截率的本地快校验排在前面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流程： 进线 ➔ [本地姓名校验] ➔ [本地渠道合法性] ➔ [同活动去重] ➔ ➔ ➔ [EDR外部PSI校验 (仅在其他全 PASS 时调用)]</a:t>
            </a:r>
            <a:br/>
            <a:br/>
            <a:r>
              <a:t>【性能优势】通过前置的本地快速过滤规则优先熔断大部分脏数据，将耗时/不稳定的外部 API（EDR）、客户关系去重等规则排在依赖链的末端，大幅提高 SQS 消息消费并发度并节省网络开销。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980B9"/>
                </a:solidFill>
                <a:latin typeface="Microsoft YaHei"/>
              </a:rPr>
              <a:t>07 </a:t>
            </a:r>
            <a:r>
              <a:rPr sz="2200" b="1">
                <a:solidFill>
                  <a:srgbClr val="0F2043"/>
                </a:solidFill>
                <a:latin typeface="Microsoft YaHei"/>
              </a:rPr>
              <a:t>需要与业务沟通确认的 6 大要点 (B-1 to B-6)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5394960" cy="1371600"/>
          </a:xfrm>
          <a:prstGeom prst="round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FD7E14"/>
                </a:solidFill>
                <a:latin typeface="Microsoft YaHei"/>
              </a:defRPr>
            </a:pPr>
            <a:r>
              <a:t>B-1: want2Talk2PSI = false 路由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当客户不希望与默认 PSI 联系时，确认仍要判定PSI格式，但路由需降级绕开PSI分配给 General Pool/DFA，并审计原因。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463040"/>
            <a:ext cx="5394960" cy="1371600"/>
          </a:xfrm>
          <a:prstGeom prst="round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FD7E14"/>
                </a:solidFill>
                <a:latin typeface="Microsoft YaHei"/>
              </a:defRPr>
            </a:pPr>
            <a:r>
              <a:t>B-4: Channel 字段是否强制必填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segmentCode 和 country 字段若在某些进线中必缺，需要明确 Fallback as-is 的旧规则映射，确保开发可作为正式验收指标。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017520"/>
            <a:ext cx="5394960" cy="1371600"/>
          </a:xfrm>
          <a:prstGeom prst="round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FD7E14"/>
                </a:solidFill>
                <a:latin typeface="Microsoft YaHei"/>
              </a:defRPr>
            </a:pPr>
            <a:r>
              <a:t>B-2: Invalid Channel / Inactive PSI 最终状态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发生这些顾问异常时，线索状态是修改为 Validation Failed（废单），还是仅记录报警但允许线索继续分配？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017520"/>
            <a:ext cx="5394960" cy="1371600"/>
          </a:xfrm>
          <a:prstGeom prst="round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FD7E14"/>
                </a:solidFill>
                <a:latin typeface="Microsoft YaHei"/>
              </a:defRPr>
            </a:pPr>
            <a:r>
              <a:t>B-5: 双无 PSI 场景的默认分配路径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如果 Lead 与老客均无 PSI（属于业务合理形态，校验通过），下游分配引擎应具体分发给哪个默认团队或公共池？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5394960" cy="1371600"/>
          </a:xfrm>
          <a:prstGeom prst="round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FD7E14"/>
                </a:solidFill>
                <a:latin typeface="Microsoft YaHei"/>
              </a:defRPr>
            </a:pPr>
            <a:r>
              <a:t>B-3: Deceased Indicator 的数据源与 Fallback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已故状态取客户主表还是外部接口？如果外部调超时，是 reject 线索，还是打 Error 标记转人工异常队列处理？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572000"/>
            <a:ext cx="5394960" cy="1371600"/>
          </a:xfrm>
          <a:prstGeom prst="round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FD7E14"/>
                </a:solidFill>
                <a:latin typeface="Microsoft YaHei"/>
              </a:defRPr>
            </a:pPr>
            <a:r>
              <a:t>B-6: 多客模糊匹配的处理机制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模糊匹配出多个 Customer ID 时，确认为非 Hard Stop。但是否应阻断自动客户关联，跳过已故校验，直接转人工？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980B9"/>
                </a:solidFill>
                <a:latin typeface="Microsoft YaHei"/>
              </a:rPr>
              <a:t>08 </a:t>
            </a:r>
            <a:r>
              <a:rPr sz="2200" b="1">
                <a:solidFill>
                  <a:srgbClr val="0F2043"/>
                </a:solidFill>
                <a:latin typeface="Microsoft YaHei"/>
              </a:rPr>
              <a:t>需要与 TL / 确认现有代码逻辑的 6 大要点 (T-1 to T-6)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5394960" cy="1371600"/>
          </a:xfrm>
          <a:prstGeom prst="roundRect">
            <a:avLst/>
          </a:prstGeom>
          <a:solidFill>
            <a:srgbClr val="E6F2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0F2043"/>
                </a:solidFill>
                <a:latin typeface="Microsoft YaHei"/>
              </a:defRPr>
            </a:pPr>
            <a:r>
              <a:t>T-1: 规则可配置的本期开发边界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LEAD-206 规则变更是只需在代码中写元数据常量还是要做动态数据库表（validation_rule_registry）+ Redis广播热加载？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463040"/>
            <a:ext cx="5394960" cy="1371600"/>
          </a:xfrm>
          <a:prstGeom prst="roundRect">
            <a:avLst/>
          </a:prstGeom>
          <a:solidFill>
            <a:srgbClr val="E6F2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0F2043"/>
                </a:solidFill>
                <a:latin typeface="Microsoft YaHei"/>
              </a:defRPr>
            </a:pPr>
            <a:r>
              <a:t>T-4: 现有 DAE as-is 渠道降级代码入口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为实现当 segmentCode 缺失时的 fallback，TL 需要指明现有 DAE 渠道降级（基于 lead.source/campaign）的代码类以便复用。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017520"/>
            <a:ext cx="5394960" cy="1371600"/>
          </a:xfrm>
          <a:prstGeom prst="roundRect">
            <a:avLst/>
          </a:prstGeom>
          <a:solidFill>
            <a:srgbClr val="E6F2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0F2043"/>
                </a:solidFill>
                <a:latin typeface="Microsoft YaHei"/>
              </a:defRPr>
            </a:pPr>
            <a:r>
              <a:t>T-2: PSI 判定结果的物理存储位置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校验状态（老客、已故、PSI活跃等）到底放哪？ leads 主表不加字段，只在内存 Context 传递并写入 audit 表的做法是否妥当？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017520"/>
            <a:ext cx="5394960" cy="1371600"/>
          </a:xfrm>
          <a:prstGeom prst="roundRect">
            <a:avLst/>
          </a:prstGeom>
          <a:solidFill>
            <a:srgbClr val="E6F2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0F2043"/>
                </a:solidFill>
                <a:latin typeface="Microsoft YaHei"/>
              </a:defRPr>
            </a:pPr>
            <a:r>
              <a:t>T-5: 匹配成功后自动回填的 Customer ID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唯一模糊匹配成功后，自动回填 Customer ID 至 leads 哪个字段？更新与校验是否在同事务内？是否引发前端页面渲染异常？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5394960" cy="1371600"/>
          </a:xfrm>
          <a:prstGeom prst="roundRect">
            <a:avLst/>
          </a:prstGeom>
          <a:solidFill>
            <a:srgbClr val="E6F2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0F2043"/>
                </a:solidFill>
                <a:latin typeface="Microsoft YaHei"/>
              </a:defRPr>
            </a:pPr>
            <a:r>
              <a:t>T-3: 异常表 REQUIRES_NEW 与审计完整性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异常和审计记录使用独立事务隔离以保障主交易高可用，如果写入失败只报warning。是否需要增加 Outbox/死信队列进行重试？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572000"/>
            <a:ext cx="5394960" cy="1371600"/>
          </a:xfrm>
          <a:prstGeom prst="roundRect">
            <a:avLst/>
          </a:prstGeom>
          <a:solidFill>
            <a:srgbClr val="E6F2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0F2043"/>
                </a:solidFill>
                <a:latin typeface="Microsoft YaHei"/>
              </a:defRPr>
            </a:pPr>
            <a:r>
              <a:t>T-6: 审计与归档表结构就绪度确认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文档列出了用于报表透视的 audit/archive 字段，但又称无需修改数据库，需确认这些字段是否已在上一阶段部署就绪。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980B9"/>
                </a:solidFill>
                <a:latin typeface="Microsoft YaHei"/>
              </a:rPr>
              <a:t>09 </a:t>
            </a:r>
            <a:r>
              <a:rPr sz="2200" b="1">
                <a:solidFill>
                  <a:srgbClr val="0F2043"/>
                </a:solidFill>
                <a:latin typeface="Microsoft YaHei"/>
              </a:rPr>
              <a:t>评审会议议程与后续行动方案建议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3447288" cy="4114800"/>
          </a:xfrm>
          <a:prstGeom prst="roundRect">
            <a:avLst/>
          </a:prstGeom>
          <a:solidFill>
            <a:srgbClr val="FFF3E6"/>
          </a:solidFill>
          <a:ln w="1905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FD7E14"/>
                </a:solidFill>
                <a:latin typeface="Microsoft YaHei"/>
              </a:defRPr>
            </a:pPr>
            <a:r>
              <a:t>第一阶段：业务评审会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1. 参会人：业务代表、PM、技术负责人。</a:t>
            </a:r>
            <a:br/>
            <a:br/>
            <a:r>
              <a:t>2. 核心决议点：</a:t>
            </a:r>
            <a:br/>
            <a:r>
              <a:t>  • 敲定 Hard Stop 的拦截界限 (P0-3, B-2)。</a:t>
            </a:r>
            <a:br/>
            <a:r>
              <a:t>  • 确认 want2Talk2PSI = false 时线索的路由目标 (B-1, B-5)。</a:t>
            </a:r>
            <a:br/>
            <a:r>
              <a:t>  • 明确新客户外部 EDR 校验失败的处理策略 (P0-4)。</a:t>
            </a:r>
            <a:br/>
            <a:r>
              <a:t>  • 确定已故校验超时时的容灾机制 (B-3)。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61688" y="1828800"/>
            <a:ext cx="3447288" cy="4114800"/>
          </a:xfrm>
          <a:prstGeom prst="roundRect">
            <a:avLst/>
          </a:prstGeom>
          <a:solidFill>
            <a:srgbClr val="E6F2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0F2043"/>
                </a:solidFill>
                <a:latin typeface="Microsoft YaHei"/>
              </a:defRPr>
            </a:pPr>
            <a:r>
              <a:t>第二阶段：技术与架构评审会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1. 参会人：技术主管、架构师、DBA、核心开发。</a:t>
            </a:r>
            <a:br/>
            <a:br/>
            <a:r>
              <a:t>2. 核心决议点：</a:t>
            </a:r>
            <a:br/>
            <a:r>
              <a:t>  • 明确规则可配置的范围，决定本期是写数据库配置还是代码配置 (P0-1, T-1)。</a:t>
            </a:r>
            <a:br/>
            <a:r>
              <a:t>  • 批准物理 DDL 变更，确认异常表字段扩展和发布策略 (P0-2, T-6)。</a:t>
            </a:r>
            <a:br/>
            <a:r>
              <a:t>  • 审查事务策略与审计完整性兜底机制 (T-3)。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66176" y="1828800"/>
            <a:ext cx="3447288" cy="4114800"/>
          </a:xfrm>
          <a:prstGeom prst="roundRect">
            <a:avLst/>
          </a:prstGeom>
          <a:solidFill>
            <a:srgbClr val="EAF8EF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defRPr sz="1400" b="1">
                <a:solidFill>
                  <a:srgbClr val="28A745"/>
                </a:solidFill>
                <a:latin typeface="Microsoft YaHei"/>
              </a:defRPr>
            </a:pPr>
            <a:r>
              <a:t>第三阶段：设计更新与落笔</a:t>
            </a:r>
          </a:p>
          <a:p>
            <a:pPr>
              <a:spcBef>
                <a:spcPts val="800"/>
              </a:spcBef>
              <a:defRPr sz="1100">
                <a:solidFill>
                  <a:srgbClr val="212529"/>
                </a:solidFill>
                <a:latin typeface="Microsoft YaHei"/>
              </a:defRPr>
            </a:pPr>
            <a:r>
              <a:t>1. 执行人：方案主设计人、TL。</a:t>
            </a:r>
            <a:br/>
            <a:br/>
            <a:r>
              <a:t>2. 行动项：</a:t>
            </a:r>
            <a:br/>
            <a:r>
              <a:t>  • 将两次会议确认的结果补充写回设计文档第 3、4、5 章节。</a:t>
            </a:r>
            <a:br/>
            <a:r>
              <a:t>  • 更新 Mermaid 校验流程图。</a:t>
            </a:r>
            <a:br/>
            <a:r>
              <a:t>  • 增加一份全局统一 Rule Matrix 配置矩阵，作为开发与测试唯一的参考信源。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